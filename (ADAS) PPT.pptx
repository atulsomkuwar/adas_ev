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C990-8C19-5499-686B-1DEB31140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8F98A-66FE-32E5-14A8-DB829CF94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B0EA8-851D-2216-7B23-E6731BBB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1BCA4-E322-A0EC-273C-58E5E789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04859-65B4-95E4-CDE8-0562308C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BFB3-0EC8-A367-7501-370C88BF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FEB1-1361-B19B-96B4-E17AB01ED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D742F-F9D8-A976-7C13-1816C33B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C7740-FDDF-741A-3646-8A20FFBF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C9859-4AC0-5E7F-7B54-CA178D54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9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F25F-B225-066D-E316-52A6AF1D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5AA5F-7B38-B583-FA7B-87F31F1D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FA76E-6D8B-B386-00C5-42C70A3E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5290-674C-5ED6-DAC5-75EC73F7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46C39-E6C9-332A-F176-E7F83424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9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8919-3E6E-25D6-F14B-A0F765C4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2807-2DD9-7429-14F5-FCB00453B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ACBD1-5820-EF6C-0963-5A6FC26E5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B8F7F-00DF-1962-8581-DCB62093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4CEA-6FA5-5673-241D-53539ABB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34AC3-E971-E4D0-A814-FE858744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6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EE92-8E69-68C1-4C64-D8440128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0B884-BE98-32CB-E54F-783EE524C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1FE64-C251-255F-F9C0-7321658B1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56908-9F48-77FB-DB9D-6A7DDB2DE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3D161-7BEB-BE57-C699-F0A31757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1C15C-1A1F-6B4C-4494-2D7704D9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B66F-A48B-8810-EF2E-8F3B7150B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AD4DE-14AF-FF9D-0DEA-529A5591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C8FA-1BAA-D087-3FF0-ABEAF101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27654-E891-5000-32DC-50195E84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17E16-5ED1-C1F3-7367-4B334ACD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7CB40-760B-8B2D-0CB5-E24D4CE3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0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DBDA9-185F-E83B-536F-EE36C219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EAC3E-F894-DD0E-7EE8-7CC00F89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CCE0-D830-96D7-5039-5DADDAB8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E20A3-31FA-C0F1-23F9-2194D101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ABCD-298E-5170-A861-AE37E3DF1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1CC74-1270-7C31-FAA1-6E6FCB462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1437C-9B6E-154A-D94F-D0CFCF12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3EC0F-0A59-11E7-EF3F-131374C2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80457-C03B-25C9-BA74-94A14DFA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1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1F6C-8060-15F6-C464-2F28B5F0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B468F-258C-568A-36BC-30FE0DC2C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3E7EF-3663-FDB6-FBAA-F013E9A1D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846D6-5E99-7CEB-B6C6-E065FE63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7DD54-F005-2FA7-0A9A-09500DB2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FE4D6-224D-42D8-099F-BA1A824C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8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480E-A310-A1D7-D3AC-DBB88653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7D070-EA32-025B-37AA-5A38DCB28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1EBF-2968-7DA7-42DD-7CD1549B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9253B-1977-D24E-BE3D-51C1141A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ECA1B-15FD-5624-F3F0-0F19A9E1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9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A2F53-54AD-F3A9-B50E-D0E9F0C05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CACC4-EDFB-1184-87D1-BADC64919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F7816-C73A-8A10-BF94-74A87685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6CFB2-F529-C8FE-CE87-A135F2C8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6ACA6-801E-BEFA-5DDC-C0134912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2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627C0-9917-2458-D92F-2E99C2A6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53CF8-B588-0E74-20D8-8AB975A5C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DC7CC-E8CD-4AEC-2509-8E1C7368B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E3F84-8531-4ADA-86B9-DB5AFCB6B78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40BD4-7947-A77C-972C-0EEBCCCF5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07BA2-74E0-EBE1-9FAC-5BC8D8A37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E317C-F3C1-4146-B375-DC3D9A50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6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9ED1395-C171-8213-1016-32EEB50C2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94" y="2259449"/>
            <a:ext cx="9144000" cy="2249798"/>
          </a:xfrm>
        </p:spPr>
        <p:txBody>
          <a:bodyPr>
            <a:noAutofit/>
          </a:bodyPr>
          <a:lstStyle/>
          <a:p>
            <a:r>
              <a:rPr lang="en-IN" sz="5400" b="1" dirty="0"/>
              <a:t>Advanced Driver Assistance System Electric Vehicle(ADAS_EV)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31AC8D-FBA3-E091-5629-8D2868785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6096001" cy="1878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47E169-E50C-85CE-36F2-E80121A48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471" y="0"/>
            <a:ext cx="2471530" cy="2156791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18349A4-4F24-BCA8-7E43-4895DF3CC5F1}"/>
              </a:ext>
            </a:extLst>
          </p:cNvPr>
          <p:cNvSpPr txBox="1">
            <a:spLocks/>
          </p:cNvSpPr>
          <p:nvPr/>
        </p:nvSpPr>
        <p:spPr>
          <a:xfrm>
            <a:off x="950265" y="5324107"/>
            <a:ext cx="4810529" cy="424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dirty="0"/>
              <a:t>Presented by- Atul Somkuwar (25RA06009)</a:t>
            </a:r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FD31C-66CA-15F1-B544-7EC3753A59EA}"/>
              </a:ext>
            </a:extLst>
          </p:cNvPr>
          <p:cNvSpPr txBox="1"/>
          <p:nvPr/>
        </p:nvSpPr>
        <p:spPr>
          <a:xfrm>
            <a:off x="7121204" y="5089888"/>
            <a:ext cx="48105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AI Presentation </a:t>
            </a:r>
          </a:p>
          <a:p>
            <a:r>
              <a:rPr lang="en-IN" sz="2800" b="1" dirty="0"/>
              <a:t>Dr. Natrajan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18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9DA27F-A235-4BEF-D93E-2FC5DCB5D264}"/>
              </a:ext>
            </a:extLst>
          </p:cNvPr>
          <p:cNvSpPr txBox="1"/>
          <p:nvPr/>
        </p:nvSpPr>
        <p:spPr>
          <a:xfrm>
            <a:off x="735339" y="271582"/>
            <a:ext cx="7999012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Contents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b="1" dirty="0"/>
              <a:t>Objectives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Dataset Description</a:t>
            </a:r>
          </a:p>
          <a:p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Classification models</a:t>
            </a:r>
          </a:p>
          <a:p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Classification models performances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/>
              <a:t>Conclusion 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4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0CEADF-9456-BBC9-8E6C-7E2440577751}"/>
              </a:ext>
            </a:extLst>
          </p:cNvPr>
          <p:cNvSpPr txBox="1"/>
          <p:nvPr/>
        </p:nvSpPr>
        <p:spPr>
          <a:xfrm>
            <a:off x="735105" y="482223"/>
            <a:ext cx="1044388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Objectives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We used the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publically</a:t>
            </a:r>
            <a:r>
              <a:rPr lang="en-US" dirty="0">
                <a:latin typeface="+mj-lt"/>
                <a:cs typeface="Arial" panose="020B0604020202020204" pitchFamily="34" charset="0"/>
              </a:rPr>
              <a:t> available dataset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“ADAS_EV_Dataset.csv dataset ”</a:t>
            </a: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Improve model accuracy by Cross Validation and multiple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spliting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Applying different classification models on same dataset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Comparing classifications in terms of accuracy and MCE</a:t>
            </a:r>
          </a:p>
        </p:txBody>
      </p:sp>
    </p:spTree>
    <p:extLst>
      <p:ext uri="{BB962C8B-B14F-4D97-AF65-F5344CB8AC3E}">
        <p14:creationId xmlns:p14="http://schemas.microsoft.com/office/powerpoint/2010/main" val="321546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44B42-DFB3-63EB-491A-4CD2AAE4DD19}"/>
              </a:ext>
            </a:extLst>
          </p:cNvPr>
          <p:cNvSpPr txBox="1"/>
          <p:nvPr/>
        </p:nvSpPr>
        <p:spPr>
          <a:xfrm>
            <a:off x="340659" y="286871"/>
            <a:ext cx="4410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Dataset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4A40E-3A10-C321-1E73-19FF08D439C6}"/>
              </a:ext>
            </a:extLst>
          </p:cNvPr>
          <p:cNvSpPr txBox="1"/>
          <p:nvPr/>
        </p:nvSpPr>
        <p:spPr>
          <a:xfrm>
            <a:off x="340660" y="1035167"/>
            <a:ext cx="616771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quote-cjk-patch"/>
              </a:rPr>
              <a:t>Vehicle Dynamics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Speed</a:t>
            </a:r>
            <a:r>
              <a:rPr lang="en-US" b="0" i="0" dirty="0">
                <a:effectLst/>
                <a:latin typeface="quote-cjk-patch"/>
              </a:rPr>
              <a:t> (km/h): Real-time vehicle velocity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Acceleration</a:t>
            </a:r>
            <a:r>
              <a:rPr lang="en-US" b="0" i="0" dirty="0">
                <a:effectLst/>
                <a:latin typeface="quote-cjk-patch"/>
              </a:rPr>
              <a:t> (m/s²): Positive and negative acceleration values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Steering Angle</a:t>
            </a:r>
            <a:r>
              <a:rPr lang="en-US" b="0" i="0" dirty="0">
                <a:effectLst/>
                <a:latin typeface="quote-cjk-patch"/>
              </a:rPr>
              <a:t>: Wheel rotation in degrees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Brake Intensity</a:t>
            </a:r>
            <a:r>
              <a:rPr lang="en-US" b="0" i="0" dirty="0">
                <a:effectLst/>
                <a:latin typeface="quote-cjk-patch"/>
              </a:rPr>
              <a:t>: Braking pressure application (0-1 scale)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A3EA9-3051-9B24-9643-74A0B6B00071}"/>
              </a:ext>
            </a:extLst>
          </p:cNvPr>
          <p:cNvSpPr txBox="1"/>
          <p:nvPr/>
        </p:nvSpPr>
        <p:spPr>
          <a:xfrm>
            <a:off x="340659" y="3749594"/>
            <a:ext cx="6167716" cy="205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quote-cjk-patch"/>
              </a:rPr>
              <a:t>Electric Vehicle Parameters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Battery Level</a:t>
            </a:r>
            <a:r>
              <a:rPr lang="en-US" b="0" i="0" dirty="0">
                <a:effectLst/>
                <a:latin typeface="quote-cjk-patch"/>
              </a:rPr>
              <a:t>: State of charge percentage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Energy Consumption</a:t>
            </a:r>
            <a:r>
              <a:rPr lang="en-US" b="0" i="0" dirty="0">
                <a:effectLst/>
                <a:latin typeface="quote-cjk-patch"/>
              </a:rPr>
              <a:t>: Power usage metrics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Regen Braking Usage</a:t>
            </a:r>
            <a:r>
              <a:rPr lang="en-US" b="0" i="0" dirty="0">
                <a:effectLst/>
                <a:latin typeface="quote-cjk-patch"/>
              </a:rPr>
              <a:t>: Regenerative braking utilization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percentage</a:t>
            </a:r>
          </a:p>
        </p:txBody>
      </p:sp>
    </p:spTree>
    <p:extLst>
      <p:ext uri="{BB962C8B-B14F-4D97-AF65-F5344CB8AC3E}">
        <p14:creationId xmlns:p14="http://schemas.microsoft.com/office/powerpoint/2010/main" val="242402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86FC0-5981-C19C-A6DD-A61E42A15E3A}"/>
              </a:ext>
            </a:extLst>
          </p:cNvPr>
          <p:cNvSpPr txBox="1"/>
          <p:nvPr/>
        </p:nvSpPr>
        <p:spPr>
          <a:xfrm>
            <a:off x="403412" y="309027"/>
            <a:ext cx="60960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quote-cjk-patch"/>
              </a:rPr>
              <a:t>Environmental Factors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Weather Conditions</a:t>
            </a:r>
            <a:r>
              <a:rPr lang="en-US" b="0" i="0" dirty="0">
                <a:effectLst/>
                <a:latin typeface="quote-cjk-patch"/>
              </a:rPr>
              <a:t>: Sunny, Rainy, Foggy, Snowy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Road Types</a:t>
            </a:r>
            <a:r>
              <a:rPr lang="en-US" b="0" i="0" dirty="0">
                <a:effectLst/>
                <a:latin typeface="quote-cjk-patch"/>
              </a:rPr>
              <a:t>: Highway, Urban, Rural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Traffic Density</a:t>
            </a:r>
            <a:r>
              <a:rPr lang="en-US" b="0" i="0" dirty="0">
                <a:effectLst/>
                <a:latin typeface="quote-cjk-patch"/>
              </a:rPr>
              <a:t>: Quantitative measure (0-50 scale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Obstacle Distance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: Proximity to nearest obstacle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EA2DF-0760-7878-E435-81B04995D99B}"/>
              </a:ext>
            </a:extLst>
          </p:cNvPr>
          <p:cNvSpPr txBox="1"/>
          <p:nvPr/>
        </p:nvSpPr>
        <p:spPr>
          <a:xfrm>
            <a:off x="403412" y="2586574"/>
            <a:ext cx="6096000" cy="3321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b="1" dirty="0">
                <a:effectLst/>
                <a:latin typeface="quote-cjk-patch"/>
              </a:rPr>
              <a:t>ADAS Performance Metrics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Lane Deviation</a:t>
            </a:r>
            <a:r>
              <a:rPr lang="en-US" b="0" i="0" dirty="0">
                <a:effectLst/>
                <a:latin typeface="quote-cjk-patch"/>
              </a:rPr>
              <a:t>: Lateral position from lane center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Reaction Time</a:t>
            </a:r>
            <a:r>
              <a:rPr lang="en-US" b="0" i="0" dirty="0">
                <a:effectLst/>
                <a:latin typeface="quote-cjk-patch"/>
              </a:rPr>
              <a:t>: System response time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endParaRPr lang="en-US" b="0" i="0" dirty="0">
              <a:effectLst/>
              <a:latin typeface="quote-cjk-patch"/>
            </a:endParaRPr>
          </a:p>
          <a:p>
            <a:r>
              <a:rPr lang="en-US" b="1" dirty="0"/>
              <a:t>ADAS Output</a:t>
            </a:r>
            <a:r>
              <a:rPr lang="en-US" dirty="0"/>
              <a:t>: System decisions including:</a:t>
            </a:r>
          </a:p>
          <a:p>
            <a:pPr lvl="1"/>
            <a:r>
              <a:rPr lang="en-US" dirty="0"/>
              <a:t>Maintain Speed</a:t>
            </a:r>
          </a:p>
          <a:p>
            <a:pPr lvl="1"/>
            <a:r>
              <a:rPr lang="en-US" dirty="0"/>
              <a:t>Accelerate</a:t>
            </a:r>
          </a:p>
          <a:p>
            <a:pPr lvl="1"/>
            <a:r>
              <a:rPr lang="en-US" dirty="0"/>
              <a:t>Brake</a:t>
            </a:r>
          </a:p>
          <a:p>
            <a:pPr lvl="1"/>
            <a:r>
              <a:rPr lang="en-US" dirty="0"/>
              <a:t>Lane </a:t>
            </a:r>
            <a:r>
              <a:rPr lang="en-US" dirty="0" err="1"/>
              <a:t>Correct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Outp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ystem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decisions including:</a:t>
            </a:r>
          </a:p>
        </p:txBody>
      </p:sp>
    </p:spTree>
    <p:extLst>
      <p:ext uri="{BB962C8B-B14F-4D97-AF65-F5344CB8AC3E}">
        <p14:creationId xmlns:p14="http://schemas.microsoft.com/office/powerpoint/2010/main" val="22754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008E-138D-C674-69FF-B26B65340570}"/>
              </a:ext>
            </a:extLst>
          </p:cNvPr>
          <p:cNvSpPr txBox="1"/>
          <p:nvPr/>
        </p:nvSpPr>
        <p:spPr>
          <a:xfrm>
            <a:off x="152401" y="90531"/>
            <a:ext cx="11546541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Classification models </a:t>
            </a:r>
          </a:p>
          <a:p>
            <a:endParaRPr lang="en-US" b="1" dirty="0"/>
          </a:p>
          <a:p>
            <a:r>
              <a:rPr lang="en-US" b="1" dirty="0"/>
              <a:t>1) K-Nearest Neighbors (KNN): </a:t>
            </a:r>
            <a:r>
              <a:rPr lang="en-US" dirty="0"/>
              <a:t>KNN is a non-parametric, instance-based learning algorithm. A new data point is classified by the majority vote of its </a:t>
            </a:r>
            <a:r>
              <a:rPr lang="en-US" i="1" dirty="0"/>
              <a:t>k </a:t>
            </a:r>
            <a:r>
              <a:rPr lang="en-US" dirty="0"/>
              <a:t>nearest neighbors in the feature space. The distance metric (often Euclidean) determines proximity</a:t>
            </a:r>
          </a:p>
          <a:p>
            <a:endParaRPr lang="en-US" dirty="0"/>
          </a:p>
          <a:p>
            <a:r>
              <a:rPr lang="en-US" dirty="0"/>
              <a:t>2)</a:t>
            </a:r>
            <a:r>
              <a:rPr lang="en-US" b="1" dirty="0"/>
              <a:t> Decision Tree: </a:t>
            </a:r>
            <a:r>
              <a:rPr lang="en-US" dirty="0"/>
              <a:t>Splits the data recursively based on feature values to create homogeneous subgroups</a:t>
            </a:r>
          </a:p>
          <a:p>
            <a:r>
              <a:rPr lang="en-US" dirty="0"/>
              <a:t>(nodes) with respect to the target variable. The splits are chosen to maximize information gain or minimize impurity (e.g., Gini impurity).</a:t>
            </a:r>
          </a:p>
          <a:p>
            <a:endParaRPr lang="en-US" dirty="0"/>
          </a:p>
          <a:p>
            <a:r>
              <a:rPr lang="en-US" dirty="0"/>
              <a:t>3)</a:t>
            </a:r>
            <a:r>
              <a:rPr lang="en-US" b="1" dirty="0"/>
              <a:t> Random Forest: </a:t>
            </a:r>
            <a:r>
              <a:rPr lang="en-US" dirty="0"/>
              <a:t>An ensemble method that constructs multiple Decision Trees at training time. It combines their predictions (by voting) to produce a single, more stable, and more accurate final prediction, mitigating the overfitting tendency of individual trees.</a:t>
            </a:r>
          </a:p>
          <a:p>
            <a:endParaRPr lang="en-US" dirty="0"/>
          </a:p>
          <a:p>
            <a:r>
              <a:rPr lang="en-US" b="1" dirty="0"/>
              <a:t>4)Logistic Regression: </a:t>
            </a:r>
            <a:r>
              <a:rPr lang="en-US" dirty="0"/>
              <a:t>Despite its name, Logistic Regression is a classification algorithm. It uses the logistic function (sigmoid) to map the linear combination of features to a probability score between 0 and 1.</a:t>
            </a:r>
          </a:p>
          <a:p>
            <a:r>
              <a:rPr lang="en-US" i="1" dirty="0"/>
              <a:t>                                     P</a:t>
            </a:r>
            <a:r>
              <a:rPr lang="en-US" dirty="0"/>
              <a:t>(</a:t>
            </a:r>
            <a:r>
              <a:rPr lang="en-US" i="1" dirty="0"/>
              <a:t>y </a:t>
            </a:r>
            <a:r>
              <a:rPr lang="en-US" dirty="0"/>
              <a:t>= 1|</a:t>
            </a:r>
            <a:r>
              <a:rPr lang="en-US" b="1" dirty="0"/>
              <a:t>x</a:t>
            </a:r>
            <a:r>
              <a:rPr lang="en-US" dirty="0"/>
              <a:t>) = 1                                          </a:t>
            </a:r>
            <a:r>
              <a:rPr lang="nl-NL" dirty="0"/>
              <a:t>1 + </a:t>
            </a:r>
            <a:r>
              <a:rPr lang="nl-NL" i="1" dirty="0"/>
              <a:t>e</a:t>
            </a:r>
            <a:r>
              <a:rPr lang="nl-NL" dirty="0"/>
              <a:t>−(</a:t>
            </a:r>
            <a:r>
              <a:rPr lang="nl-NL" b="1" dirty="0"/>
              <a:t>w</a:t>
            </a:r>
            <a:r>
              <a:rPr lang="nl-NL" i="1" dirty="0"/>
              <a:t>T </a:t>
            </a:r>
            <a:r>
              <a:rPr lang="nl-NL" b="1" dirty="0"/>
              <a:t>x</a:t>
            </a:r>
            <a:r>
              <a:rPr lang="nl-NL" dirty="0"/>
              <a:t>+</a:t>
            </a:r>
            <a:r>
              <a:rPr lang="nl-NL" i="1" dirty="0"/>
              <a:t>b</a:t>
            </a:r>
            <a:r>
              <a:rPr lang="nl-NL" dirty="0"/>
              <a:t>) (2)</a:t>
            </a:r>
          </a:p>
          <a:p>
            <a:r>
              <a:rPr lang="en-US" dirty="0"/>
              <a:t>The model is trained by maximizing the likelihood of the observed data</a:t>
            </a:r>
          </a:p>
          <a:p>
            <a:endParaRPr lang="en-US" dirty="0"/>
          </a:p>
          <a:p>
            <a:r>
              <a:rPr lang="en-US" dirty="0"/>
              <a:t>5)</a:t>
            </a:r>
            <a:r>
              <a:rPr lang="en-US" b="1" dirty="0" err="1"/>
              <a:t>XGBoost</a:t>
            </a:r>
            <a:r>
              <a:rPr lang="en-US" dirty="0"/>
              <a:t>:(</a:t>
            </a:r>
            <a:r>
              <a:rPr lang="en-US" b="1" dirty="0"/>
              <a:t>Extreme Gradient Boosting</a:t>
            </a:r>
            <a:r>
              <a:rPr lang="en-US" dirty="0"/>
              <a:t>) is a powerful and efficient machine learning algorithm based on gradient boosting decision trees. It is known for: High accuracy, Fast training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05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D8C774-1E84-754E-CC78-CBED3D338217}"/>
              </a:ext>
            </a:extLst>
          </p:cNvPr>
          <p:cNvSpPr txBox="1"/>
          <p:nvPr/>
        </p:nvSpPr>
        <p:spPr>
          <a:xfrm>
            <a:off x="286870" y="234437"/>
            <a:ext cx="1051560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Classification Performance Metrics</a:t>
            </a:r>
          </a:p>
          <a:p>
            <a:endParaRPr lang="en-US" sz="2800" b="1" dirty="0"/>
          </a:p>
          <a:p>
            <a:r>
              <a:rPr lang="en-US" dirty="0">
                <a:solidFill>
                  <a:schemeClr val="accent4"/>
                </a:solidFill>
              </a:rPr>
              <a:t>Classification Model Performance Summary (Accuracy and Stability)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b="1" dirty="0"/>
              <a:t>Model                                                       Hold-Out Acc.         CV Mean             Acc. CV Std.</a:t>
            </a:r>
          </a:p>
          <a:p>
            <a:endParaRPr lang="en-US" b="1" dirty="0"/>
          </a:p>
          <a:p>
            <a:r>
              <a:rPr lang="en-US" dirty="0"/>
              <a:t>Random Forest                                             0.98                           0.955                       0.010</a:t>
            </a:r>
          </a:p>
          <a:p>
            <a:r>
              <a:rPr lang="en-US" dirty="0"/>
              <a:t>Decision Tree                                                0.98                              -                               -</a:t>
            </a:r>
          </a:p>
          <a:p>
            <a:r>
              <a:rPr lang="en-US" dirty="0"/>
              <a:t>Logistic Regression                                       0.77                            0.948                       0.012</a:t>
            </a:r>
          </a:p>
          <a:p>
            <a:r>
              <a:rPr lang="en-US" dirty="0" err="1"/>
              <a:t>XGBoost</a:t>
            </a:r>
            <a:r>
              <a:rPr lang="en-US" dirty="0"/>
              <a:t>                                                         0.98                            0.945                       0.015</a:t>
            </a:r>
          </a:p>
          <a:p>
            <a:r>
              <a:rPr lang="en-US" dirty="0"/>
              <a:t>K-Nearest Neighbors (KNN)                        0.64                            0.930                       0.020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Note: some Hold-Out (H/O) metrics are based on the 10% test split.’ like KNN</a:t>
            </a:r>
          </a:p>
          <a:p>
            <a:r>
              <a:rPr lang="en-US" i="1" dirty="0"/>
              <a:t>           Rest Hold-Out (H/O) metrics are based on the 20% test split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4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560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quote-cjk-patch</vt:lpstr>
      <vt:lpstr>Wingdings</vt:lpstr>
      <vt:lpstr>Office Theme</vt:lpstr>
      <vt:lpstr>Advanced Driver Assistance System Electric Vehicle(ADAS_EV)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Somkuwar</dc:creator>
  <cp:lastModifiedBy>Atul Somkuwar</cp:lastModifiedBy>
  <cp:revision>2</cp:revision>
  <dcterms:created xsi:type="dcterms:W3CDTF">2025-11-18T04:35:05Z</dcterms:created>
  <dcterms:modified xsi:type="dcterms:W3CDTF">2025-11-18T06:35:39Z</dcterms:modified>
</cp:coreProperties>
</file>